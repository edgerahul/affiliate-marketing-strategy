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92133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0" y="274320"/>
            <a:ext cx="1645920" cy="1645920"/>
          </a:xfrm>
          <a:prstGeom prst="ellipse">
            <a:avLst/>
          </a:prstGeom>
          <a:solidFill>
            <a:srgbClr val="1A7A8A">
              <a:alpha val="40000"/>
            </a:srgbClr>
          </a:solidFill>
          <a:ln w="25400">
            <a:solidFill>
              <a:srgbClr val="1A7A8A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645920"/>
            <a:ext cx="1097280" cy="1097280"/>
          </a:xfrm>
          <a:prstGeom prst="ellipse">
            <a:avLst/>
          </a:prstGeom>
          <a:solidFill>
            <a:srgbClr val="E8A838">
              <a:alpha val="30000"/>
            </a:srgbClr>
          </a:solidFill>
          <a:ln w="25400">
            <a:solidFill>
              <a:srgbClr val="E8A838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2834640"/>
            <a:ext cx="731520" cy="731520"/>
          </a:xfrm>
          <a:prstGeom prst="ellipse">
            <a:avLst/>
          </a:prstGeom>
          <a:solidFill>
            <a:srgbClr val="E55B7E">
              <a:alpha val="40000"/>
            </a:srgbClr>
          </a:solidFill>
          <a:ln w="12700">
            <a:solidFill>
              <a:srgbClr val="E55B7E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4864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005840"/>
            <a:ext cx="6217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Marketing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Growth Framework for Reach,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0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&amp; Retention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AFFILIATE STRATEGY BRIEF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0"/>
            <a:ext cx="54864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74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640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framework 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Myntra's affiliate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into a ₹200Cr revenue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by Year 3.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6160" y="457200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530352"/>
            <a:ext cx="402336" cy="402336"/>
          </a:xfrm>
          <a:prstGeom prst="ellipse">
            <a:avLst/>
          </a:prstGeom>
          <a:solidFill>
            <a:srgbClr val="1A7A8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530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0" y="5669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 Analysis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1170432"/>
            <a:ext cx="5303520" cy="548640"/>
          </a:xfrm>
          <a:prstGeom prst="rect">
            <a:avLst/>
          </a:prstGeom>
          <a:solidFill>
            <a:srgbClr val="E8EFF5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1243584"/>
            <a:ext cx="402336" cy="402336"/>
          </a:xfrm>
          <a:prstGeom prst="ellipse">
            <a:avLst/>
          </a:prstGeom>
          <a:solidFill>
            <a:srgbClr val="1A7A8A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0" y="12801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Partner Identification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6160" y="1883664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11880" y="1956816"/>
            <a:ext cx="402336" cy="402336"/>
          </a:xfrm>
          <a:prstGeom prst="ellipse">
            <a:avLst/>
          </a:prstGeom>
          <a:solidFill>
            <a:srgbClr val="1A7A8A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0" y="19933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Structure &amp; Incentives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66160" y="2596896"/>
            <a:ext cx="5303520" cy="548640"/>
          </a:xfrm>
          <a:prstGeom prst="rect">
            <a:avLst/>
          </a:prstGeom>
          <a:solidFill>
            <a:srgbClr val="E8EFF5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11880" y="2670048"/>
            <a:ext cx="402336" cy="402336"/>
          </a:xfrm>
          <a:prstGeom prst="ellipse">
            <a:avLst/>
          </a:prstGeom>
          <a:solidFill>
            <a:srgbClr val="1A7A8A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0" y="270662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Promotion Strategy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66160" y="3310128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11880" y="3383280"/>
            <a:ext cx="402336" cy="402336"/>
          </a:xfrm>
          <a:prstGeom prst="ellipse">
            <a:avLst/>
          </a:prstGeom>
          <a:solidFill>
            <a:srgbClr val="1A7A8A"/>
          </a:solidFill>
          <a:ln/>
        </p:spPr>
      </p:sp>
      <p:sp>
        <p:nvSpPr>
          <p:cNvPr id="26" name="Text 24"/>
          <p:cNvSpPr/>
          <p:nvPr/>
        </p:nvSpPr>
        <p:spPr>
          <a:xfrm>
            <a:off x="3611880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0" y="341985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Tracking Metrics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66160" y="4023360"/>
            <a:ext cx="5303520" cy="548640"/>
          </a:xfrm>
          <a:prstGeom prst="rect">
            <a:avLst/>
          </a:prstGeom>
          <a:solidFill>
            <a:srgbClr val="E8EFF5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11880" y="4096512"/>
            <a:ext cx="402336" cy="402336"/>
          </a:xfrm>
          <a:prstGeom prst="ellipse">
            <a:avLst/>
          </a:prstGeom>
          <a:solidFill>
            <a:srgbClr val="1A7A8A"/>
          </a:solidFill>
          <a:ln/>
        </p:spPr>
      </p:sp>
      <p:sp>
        <p:nvSpPr>
          <p:cNvPr id="30" name="Text 28"/>
          <p:cNvSpPr/>
          <p:nvPr/>
        </p:nvSpPr>
        <p:spPr>
          <a:xfrm>
            <a:off x="3611880" y="4096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0" y="41330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Mitigation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77240"/>
            <a:ext cx="2286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TARGET AUDIENCE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2011680" cy="41148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05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Millennials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Range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65760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25–35 yrs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65760" y="2240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₹2,500–₹5,000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606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Affiliate Channel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65760" y="2788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Reels, YouTube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1828800" cy="54864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429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trust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content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68880" y="100584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0" y="1005840"/>
            <a:ext cx="2011680" cy="411480"/>
          </a:xfrm>
          <a:prstGeom prst="rect">
            <a:avLst/>
          </a:prstGeom>
          <a:solidFill>
            <a:srgbClr val="E55B7E"/>
          </a:solidFill>
          <a:ln/>
        </p:spPr>
      </p:sp>
      <p:sp>
        <p:nvSpPr>
          <p:cNvPr id="19" name="Text 17"/>
          <p:cNvSpPr/>
          <p:nvPr/>
        </p:nvSpPr>
        <p:spPr>
          <a:xfrm>
            <a:off x="2514600" y="1005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Gen-Z Trendsetters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60320" y="1508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Range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560320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yrs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560320" y="2240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₹1,200–₹2,500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60320" y="2606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Affiliate Channel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560320" y="2788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Shorts, peer influencers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0" y="3337560"/>
            <a:ext cx="1828800" cy="54864"/>
          </a:xfrm>
          <a:prstGeom prst="rect">
            <a:avLst/>
          </a:prstGeom>
          <a:solidFill>
            <a:srgbClr val="E55B7E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0" y="3429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5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buy with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5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codes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100584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1005840"/>
            <a:ext cx="2011680" cy="4114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1005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Value-Conscious Families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1508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Range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754880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 yrs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754880" y="2240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₹3,500–₹7,000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2606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Affiliate Channel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754880" y="2788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blogs, WhatsApp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3337560"/>
            <a:ext cx="18288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3429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4.5x engagement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 content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58000" y="100584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0" y="1005840"/>
            <a:ext cx="2011680" cy="41148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41" name="Text 39"/>
          <p:cNvSpPr/>
          <p:nvPr/>
        </p:nvSpPr>
        <p:spPr>
          <a:xfrm>
            <a:off x="6903720" y="1005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Aspirants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949440" y="1508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Range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949440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35–50 yrs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49440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949440" y="2240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₹10,000–₹25,000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49440" y="2606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Affiliate Channel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949440" y="2788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editorial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49440" y="3337560"/>
            <a:ext cx="1828800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49" name="Text 47"/>
          <p:cNvSpPr/>
          <p:nvPr/>
        </p:nvSpPr>
        <p:spPr>
          <a:xfrm>
            <a:off x="6949440" y="3429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₹2,200Cr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market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2E40"/>
          </a:solidFill>
          <a:ln/>
        </p:spPr>
      </p:sp>
      <p:sp>
        <p:nvSpPr>
          <p:cNvPr id="51" name="Text 4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HypeAuditor India 2024 | Nielsen Consumer Trust Report | IAMAI E-Commerce Report 2024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AFFILIATE PARTNER IDENTIFICATION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011680" cy="45720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65760" y="2212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5420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65760" y="2697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0266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65760" y="31821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493008"/>
            <a:ext cx="1828800" cy="3657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5661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Week access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Photoshoot studio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retainer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468880" y="96012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0" y="960120"/>
            <a:ext cx="2011680" cy="4572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9" name="Text 17"/>
          <p:cNvSpPr/>
          <p:nvPr/>
        </p:nvSpPr>
        <p:spPr>
          <a:xfrm>
            <a:off x="2468880" y="960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20574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560320" y="2212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50K–500K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0" y="25420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560320" y="2697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60320" y="30266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560320" y="31821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7–10%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0" y="3493008"/>
            <a:ext cx="1828800" cy="3657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2560320" y="35661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gifting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features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events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96012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960120"/>
            <a:ext cx="2011680" cy="457200"/>
          </a:xfrm>
          <a:prstGeom prst="rect">
            <a:avLst/>
          </a:prstGeom>
          <a:solidFill>
            <a:srgbClr val="E55B7E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960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20574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754880" y="2212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10K–50K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25420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754880" y="2697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12–15%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30266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754880" y="31821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3493008"/>
            <a:ext cx="1828800" cy="3657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35661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bonuses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path to Tier 2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manager support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858000" y="96012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0" y="960120"/>
            <a:ext cx="2011680" cy="4572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0" y="960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4944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Platforms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49440" y="20574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949440" y="2212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49440" y="25420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949440" y="2697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7–9%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949440" y="30266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949440" y="31821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intent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949440" y="3493008"/>
            <a:ext cx="1828800" cy="3657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6949440" y="35661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deal access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sale alerts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 emails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91A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COMMISSION STRUCTURE &amp; INCENTIVES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Win: India's Most Competitive Affiliate Commission Framework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920240" cy="2651760"/>
          </a:xfrm>
          <a:prstGeom prst="rect">
            <a:avLst/>
          </a:prstGeom>
          <a:solidFill>
            <a:srgbClr val="0D2137"/>
          </a:solidFill>
          <a:ln w="25400">
            <a:solidFill>
              <a:srgbClr val="CD7F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1920240" cy="41148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GMV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₹0–2L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COMMISSION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D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WINDOW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514600" y="1097280"/>
            <a:ext cx="1920240" cy="2651760"/>
          </a:xfrm>
          <a:prstGeom prst="rect">
            <a:avLst/>
          </a:prstGeom>
          <a:solidFill>
            <a:srgbClr val="0D2137"/>
          </a:solidFill>
          <a:ln w="25400">
            <a:solidFill>
              <a:srgbClr val="A8A9A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1097280"/>
            <a:ext cx="1920240" cy="411480"/>
          </a:xfrm>
          <a:prstGeom prst="rect">
            <a:avLst/>
          </a:prstGeom>
          <a:solidFill>
            <a:srgbClr val="A8A9AD"/>
          </a:solidFill>
          <a:ln/>
        </p:spPr>
      </p:sp>
      <p:sp>
        <p:nvSpPr>
          <p:cNvPr id="18" name="Text 16"/>
          <p:cNvSpPr/>
          <p:nvPr/>
        </p:nvSpPr>
        <p:spPr>
          <a:xfrm>
            <a:off x="2514600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1600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GMV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60604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₹2–5L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06040" y="21945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COMMISSION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606040" y="2377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A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606040" y="2788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WINDOW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606040" y="2971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34840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663440" y="1097280"/>
            <a:ext cx="1920240" cy="2651760"/>
          </a:xfrm>
          <a:prstGeom prst="rect">
            <a:avLst/>
          </a:prstGeom>
          <a:solidFill>
            <a:srgbClr val="0D2137"/>
          </a:solidFill>
          <a:ln w="25400">
            <a:solidFill>
              <a:srgbClr val="E8A8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097280"/>
            <a:ext cx="1920240" cy="4114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1600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GMV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5488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₹5–10L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54880" y="21945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COMMISSION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754880" y="2377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754880" y="2788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WINDOW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754880" y="2971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83680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812280" y="1097280"/>
            <a:ext cx="1920240" cy="2651760"/>
          </a:xfrm>
          <a:prstGeom prst="rect">
            <a:avLst/>
          </a:prstGeom>
          <a:solidFill>
            <a:srgbClr val="0D2137"/>
          </a:solidFill>
          <a:ln w="2540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12280" y="1097280"/>
            <a:ext cx="1920240" cy="41148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8" name="Text 36"/>
          <p:cNvSpPr/>
          <p:nvPr/>
        </p:nvSpPr>
        <p:spPr>
          <a:xfrm>
            <a:off x="6812280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03720" y="1600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GMV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90372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₹10L+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903720" y="21945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COMMISSION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903720" y="2377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+3%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903720" y="2788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WINDOW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903720" y="2971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45d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0" y="4023360"/>
            <a:ext cx="9144000" cy="9144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46" name="Shape 44"/>
          <p:cNvSpPr/>
          <p:nvPr/>
        </p:nvSpPr>
        <p:spPr>
          <a:xfrm>
            <a:off x="365760" y="4160520"/>
            <a:ext cx="201168" cy="201168"/>
          </a:xfrm>
          <a:prstGeom prst="ellipse">
            <a:avLst/>
          </a:prstGeom>
          <a:solidFill>
            <a:srgbClr val="1A7A8A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415137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 EORS Sale Multiplier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560320" y="4160520"/>
            <a:ext cx="201168" cy="201168"/>
          </a:xfrm>
          <a:prstGeom prst="ellipse">
            <a:avLst/>
          </a:prstGeom>
          <a:solidFill>
            <a:srgbClr val="1A7A8A"/>
          </a:solidFill>
          <a:ln/>
        </p:spPr>
      </p:sp>
      <p:sp>
        <p:nvSpPr>
          <p:cNvPr id="49" name="Text 47"/>
          <p:cNvSpPr/>
          <p:nvPr/>
        </p:nvSpPr>
        <p:spPr>
          <a:xfrm>
            <a:off x="2834640" y="415137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Festive Season Bonus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54880" y="4160520"/>
            <a:ext cx="201168" cy="201168"/>
          </a:xfrm>
          <a:prstGeom prst="ellipse">
            <a:avLst/>
          </a:prstGeom>
          <a:solidFill>
            <a:srgbClr val="1A7A8A"/>
          </a:solidFill>
          <a:ln/>
        </p:spPr>
      </p:sp>
      <p:sp>
        <p:nvSpPr>
          <p:cNvPr id="51" name="Text 49"/>
          <p:cNvSpPr/>
          <p:nvPr/>
        </p:nvSpPr>
        <p:spPr>
          <a:xfrm>
            <a:off x="5029200" y="415137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₹25K GMV Milestone Bonus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949440" y="4160520"/>
            <a:ext cx="201168" cy="201168"/>
          </a:xfrm>
          <a:prstGeom prst="ellipse">
            <a:avLst/>
          </a:prstGeom>
          <a:solidFill>
            <a:srgbClr val="1A7A8A"/>
          </a:solidFill>
          <a:ln/>
        </p:spPr>
      </p:sp>
      <p:sp>
        <p:nvSpPr>
          <p:cNvPr id="53" name="Text 51"/>
          <p:cNvSpPr/>
          <p:nvPr/>
        </p:nvSpPr>
        <p:spPr>
          <a:xfrm>
            <a:off x="7223760" y="415137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Net-30 Payment Cycle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CONTENT &amp; PROMOTION STRATEGY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6596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1965960" cy="54864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51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how-tos, body-type guides, care tips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2697480"/>
            <a:ext cx="1783080" cy="3657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78892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65760" y="2944368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engagement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long-term trust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960120"/>
            <a:ext cx="196596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55B7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960120"/>
            <a:ext cx="1965960" cy="54864"/>
          </a:xfrm>
          <a:prstGeom prst="rect">
            <a:avLst/>
          </a:prstGeom>
          <a:solidFill>
            <a:srgbClr val="E55B7E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1051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60320" y="14173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18288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Lookbooks, celeb recreations, transformation videos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0" y="2697480"/>
            <a:ext cx="1783080" cy="3657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278892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560320" y="2944368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4.2x saves &amp; shares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5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Aspirational purchases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960120"/>
            <a:ext cx="196596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A8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960120"/>
            <a:ext cx="196596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051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54880" y="14173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Compare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18288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Haul videos, brand comparisons, try-ons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2697480"/>
            <a:ext cx="1783080" cy="3657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78892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754880" y="2944368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8–12% conversion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lower returns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0" y="960120"/>
            <a:ext cx="196596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A23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0" y="960120"/>
            <a:ext cx="196596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1051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949440" y="14173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&amp; Timely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18288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trends, festival fashion, event-based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949440" y="2697480"/>
            <a:ext cx="1783080" cy="3657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6949440" y="278892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949440" y="2944368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impulse buys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relevance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4251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Platforms: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37360" y="4251960"/>
            <a:ext cx="1645920" cy="320040"/>
          </a:xfrm>
          <a:prstGeom prst="rect">
            <a:avLst/>
          </a:prstGeom>
          <a:solidFill>
            <a:srgbClr val="1A7A8A">
              <a:alpha val="8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737360" y="4251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566160" y="4251960"/>
            <a:ext cx="1645920" cy="320040"/>
          </a:xfrm>
          <a:prstGeom prst="rect">
            <a:avLst/>
          </a:prstGeom>
          <a:solidFill>
            <a:srgbClr val="1A7A8A">
              <a:alpha val="8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566160" y="4251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Hauls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94960" y="4251960"/>
            <a:ext cx="1645920" cy="320040"/>
          </a:xfrm>
          <a:prstGeom prst="rect">
            <a:avLst/>
          </a:prstGeom>
          <a:solidFill>
            <a:srgbClr val="1A7A8A">
              <a:alpha val="8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394960" y="4251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Blogs/SEO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223760" y="4251960"/>
            <a:ext cx="1645920" cy="320040"/>
          </a:xfrm>
          <a:prstGeom prst="rect">
            <a:avLst/>
          </a:prstGeom>
          <a:solidFill>
            <a:srgbClr val="1A7A8A">
              <a:alpha val="8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223760" y="4251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Newsletters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PERFORMANCE TRACKING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606040" cy="1645920"/>
          </a:xfrm>
          <a:prstGeom prst="rect">
            <a:avLst/>
          </a:prstGeom>
          <a:solidFill>
            <a:srgbClr val="0F2535"/>
          </a:solidFill>
          <a:ln w="25400">
            <a:solidFill>
              <a:srgbClr val="1A7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54864" cy="164592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GMV Target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 Cr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914400"/>
            <a:ext cx="2606040" cy="1645920"/>
          </a:xfrm>
          <a:prstGeom prst="rect">
            <a:avLst/>
          </a:prstGeom>
          <a:solidFill>
            <a:srgbClr val="0F2535"/>
          </a:solidFill>
          <a:ln w="25400">
            <a:solidFill>
              <a:srgbClr val="E8A8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914400"/>
            <a:ext cx="54864" cy="16459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13716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3756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2–4% industry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914400"/>
            <a:ext cx="2606040" cy="1645920"/>
          </a:xfrm>
          <a:prstGeom prst="rect">
            <a:avLst/>
          </a:prstGeom>
          <a:solidFill>
            <a:srgbClr val="0F2535"/>
          </a:solidFill>
          <a:ln w="25400">
            <a:solidFill>
              <a:srgbClr val="E55B7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914400"/>
            <a:ext cx="54864" cy="1645920"/>
          </a:xfrm>
          <a:prstGeom prst="rect">
            <a:avLst/>
          </a:prstGeom>
          <a:solidFill>
            <a:srgbClr val="E55B7E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13716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₹3,500+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1792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 vs organic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2606040" cy="1645920"/>
          </a:xfrm>
          <a:prstGeom prst="rect">
            <a:avLst/>
          </a:prstGeom>
          <a:solidFill>
            <a:srgbClr val="0F2535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834640"/>
            <a:ext cx="54864" cy="16459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Target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2918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&lt;18%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5720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22–25% avg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54680" y="2834640"/>
            <a:ext cx="2606040" cy="1645920"/>
          </a:xfrm>
          <a:prstGeom prst="rect">
            <a:avLst/>
          </a:prstGeom>
          <a:solidFill>
            <a:srgbClr val="0F2535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54680" y="2834640"/>
            <a:ext cx="54864" cy="16459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7" name="Text 25"/>
          <p:cNvSpPr/>
          <p:nvPr/>
        </p:nvSpPr>
        <p:spPr>
          <a:xfrm>
            <a:off x="333756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LTV Lift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37560" y="32918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33756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direct acquisition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834640"/>
            <a:ext cx="2606040" cy="1645920"/>
          </a:xfrm>
          <a:prstGeom prst="rect">
            <a:avLst/>
          </a:prstGeom>
          <a:solidFill>
            <a:srgbClr val="0F2535"/>
          </a:solidFill>
          <a:ln w="25400">
            <a:solidFill>
              <a:srgbClr val="E8A8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2834640"/>
            <a:ext cx="54864" cy="16459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32918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4–6x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21792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to Year 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71525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Model: Last-Click (90%) + First-Click Assist Bonus (10%) | Cookie: 30 days (Platinum: 45 days) | Technology: Impact Radius + GA4 + AI Fraud Detection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CHALLENGES &amp; MITIGATION STRATEGIES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5B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1188720"/>
          </a:xfrm>
          <a:prstGeom prst="rect">
            <a:avLst/>
          </a:prstGeom>
          <a:solidFill>
            <a:srgbClr val="E55B7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Fraud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anomaly detection + HypeAuditor screening + zero-tolerance policy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960120"/>
            <a:ext cx="54864" cy="118872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Inconsistency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3716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60-page brand handbook + weekly asset library + social listening alerts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41148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86000"/>
            <a:ext cx="54864" cy="11887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Attrition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6974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Exclusivity contracts + Fashion Week access + tenure-based loyalty bonuses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2286000"/>
            <a:ext cx="41148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286000"/>
            <a:ext cx="54864" cy="11887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Disputes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6974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published model + server-side tracking + 7-day resolution SLA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611880"/>
            <a:ext cx="41148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A23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611880"/>
            <a:ext cx="54864" cy="11887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Slumps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Year-round themed calendar + off-season commission boosts + evergreen content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3611880"/>
            <a:ext cx="41148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611880"/>
            <a:ext cx="54864" cy="11887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40233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ASCI certification + pre-written disclosures + automated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FINANCIAL ROADMAP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0" y="2194560"/>
            <a:ext cx="640080" cy="457200"/>
          </a:xfrm>
          <a:prstGeom prst="blockArc">
            <a:avLst/>
          </a:prstGeom>
          <a:solidFill>
            <a:srgbClr val="E8A838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0" y="21762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40680" y="2194560"/>
            <a:ext cx="640080" cy="457200"/>
          </a:xfrm>
          <a:prstGeom prst="blockArc">
            <a:avLst/>
          </a:prstGeom>
          <a:solidFill>
            <a:srgbClr val="E8A838"/>
          </a:solidFill>
          <a:ln/>
        </p:spPr>
      </p:sp>
      <p:sp>
        <p:nvSpPr>
          <p:cNvPr id="8" name="Text 6"/>
          <p:cNvSpPr/>
          <p:nvPr/>
        </p:nvSpPr>
        <p:spPr>
          <a:xfrm>
            <a:off x="5440680" y="21762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2514600" cy="3840480"/>
          </a:xfrm>
          <a:prstGeom prst="rect">
            <a:avLst/>
          </a:prstGeom>
          <a:solidFill>
            <a:srgbClr val="FFFFFF"/>
          </a:solidFill>
          <a:ln w="31750">
            <a:solidFill>
              <a:srgbClr val="1A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914400"/>
            <a:ext cx="2514600" cy="54864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914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16002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Target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17830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 Cr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" y="23500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Affiliates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253288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1480" y="309981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328269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" y="3849624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ROI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403250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200400" y="914400"/>
            <a:ext cx="2514600" cy="3840480"/>
          </a:xfrm>
          <a:prstGeom prst="rect">
            <a:avLst/>
          </a:prstGeom>
          <a:solidFill>
            <a:srgbClr val="FFFFFF"/>
          </a:solidFill>
          <a:ln w="31750">
            <a:solidFill>
              <a:srgbClr val="E8A8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14400"/>
            <a:ext cx="2514600" cy="5486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914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37560" y="16002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Target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37560" y="17830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₹120 Cr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337560" y="23500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Affiliates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37560" y="253288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37560" y="309981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37560" y="328269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337560" y="3849624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ROI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37560" y="403250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5:1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126480" y="914400"/>
            <a:ext cx="2514600" cy="3840480"/>
          </a:xfrm>
          <a:prstGeom prst="rect">
            <a:avLst/>
          </a:prstGeom>
          <a:solidFill>
            <a:srgbClr val="FFFFFF"/>
          </a:solidFill>
          <a:ln w="31750">
            <a:solidFill>
              <a:srgbClr val="E55B7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914400"/>
            <a:ext cx="2514600" cy="548640"/>
          </a:xfrm>
          <a:prstGeom prst="rect">
            <a:avLst/>
          </a:prstGeom>
          <a:solidFill>
            <a:srgbClr val="E55B7E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914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63640" y="16002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Target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63640" y="17830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₹200 Cr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263640" y="23500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Affiliates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63640" y="253288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800+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263640" y="309981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63640" y="328269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263640" y="3849624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ROI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63640" y="403250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6:1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182880"/>
            <a:ext cx="2286000" cy="2286000"/>
          </a:xfrm>
          <a:prstGeom prst="ellipse">
            <a:avLst/>
          </a:prstGeom>
          <a:solidFill>
            <a:srgbClr val="1A7A8A">
              <a:alpha val="20000"/>
            </a:srgbClr>
          </a:solidFill>
          <a:ln w="25400">
            <a:solidFill>
              <a:srgbClr val="1A7A8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2286000"/>
            <a:ext cx="1371600" cy="1371600"/>
          </a:xfrm>
          <a:prstGeom prst="ellipse">
            <a:avLst/>
          </a:prstGeom>
          <a:solidFill>
            <a:srgbClr val="E8A838">
              <a:alpha val="25000"/>
            </a:srgbClr>
          </a:solidFill>
          <a:ln w="12700">
            <a:solidFill>
              <a:srgbClr val="E8A838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STRATEGY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₹200 CRORE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India's Most Trusted Fashion Affiliate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201168" cy="201168"/>
          </a:xfrm>
          <a:prstGeom prst="ellipse">
            <a:avLst/>
          </a:prstGeom>
          <a:solidFill>
            <a:srgbClr val="1A7A8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5059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technology stack &amp; hire affiliate team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798064"/>
            <a:ext cx="201168" cy="201168"/>
          </a:xfrm>
          <a:prstGeom prst="ellipse">
            <a:avLst/>
          </a:prstGeom>
          <a:solidFill>
            <a:srgbClr val="1A7A8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7977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20 hand-picked partners in Month 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127248"/>
            <a:ext cx="201168" cy="201168"/>
          </a:xfrm>
          <a:prstGeom prst="ellipse">
            <a:avLst/>
          </a:prstGeom>
          <a:solidFill>
            <a:srgbClr val="1A7A8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0896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200+ affiliates by end of Quarter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launch India's #1 fashion affiliate program 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by: Analytics &amp; Digital Marketing Excellence Team  |  February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Myntra Affiliate Marketing Strategy</dc:title>
  <dc:subject>PptxGenJS Presentation</dc:subject>
  <dc:creator>PptxGenJS</dc:creator>
  <cp:lastModifiedBy>PptxGenJS</cp:lastModifiedBy>
  <cp:revision>1</cp:revision>
  <dcterms:created xsi:type="dcterms:W3CDTF">2026-02-17T15:26:20Z</dcterms:created>
  <dcterms:modified xsi:type="dcterms:W3CDTF">2026-02-17T15:26:20Z</dcterms:modified>
</cp:coreProperties>
</file>